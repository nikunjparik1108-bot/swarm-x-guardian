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Keep the fleet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9199A2"/>
                </a:solidFill>
                <a:latin typeface="Aptos"/>
              </a:defRPr>
            </a:pPr>
            <a:r>
              <a:t>Self-healing decentralized coordination for autonomous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417320"/>
            <a:ext cx="3749039" cy="3337560"/>
          </a:xfrm>
          <a:prstGeom prst="rect">
            <a:avLst/>
          </a:prstGeom>
          <a:solidFill>
            <a:srgbClr val="0F1C1B"/>
          </a:solidFill>
          <a:ln>
            <a:solidFill>
              <a:srgbClr val="22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92440" y="1828800"/>
            <a:ext cx="256032" cy="256032"/>
          </a:xfrm>
          <a:prstGeom prst="ellipse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828800"/>
            <a:ext cx="256032" cy="256032"/>
          </a:xfrm>
          <a:prstGeom prst="ellipse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59" y="1828800"/>
            <a:ext cx="256032" cy="256032"/>
          </a:xfrm>
          <a:prstGeom prst="ellipse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92440" y="2743200"/>
            <a:ext cx="256032" cy="256032"/>
          </a:xfrm>
          <a:prstGeom prst="ellipse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2743200"/>
            <a:ext cx="256032" cy="256032"/>
          </a:xfrm>
          <a:prstGeom prst="ellipse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95559" y="2743200"/>
            <a:ext cx="256032" cy="256032"/>
          </a:xfrm>
          <a:prstGeom prst="ellipse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92440" y="3657600"/>
            <a:ext cx="256032" cy="256032"/>
          </a:xfrm>
          <a:prstGeom prst="ellipse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3657600"/>
            <a:ext cx="256032" cy="256032"/>
          </a:xfrm>
          <a:prstGeom prst="ellipse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95559" y="3657600"/>
            <a:ext cx="256032" cy="256032"/>
          </a:xfrm>
          <a:prstGeom prst="ellipse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397763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2F3F5"/>
                </a:solidFill>
                <a:latin typeface="Aptos"/>
              </a:defRPr>
            </a:pPr>
            <a:r>
              <a:t>A logistics swarm that continues operating when the brain, the link, or an agent goes down.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5394960"/>
            <a:ext cx="1965960" cy="73152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532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45D483"/>
                </a:solidFill>
                <a:latin typeface="Aptos Display"/>
              </a:defRPr>
            </a:pPr>
            <a:r>
              <a:t>96.4%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870448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MISSION SUCCESS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5394960"/>
            <a:ext cx="1965960" cy="73152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5532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C145"/>
                </a:solidFill>
                <a:latin typeface="Aptos Display"/>
              </a:defRPr>
            </a:pPr>
            <a:r>
              <a:t>1.82s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870448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RECOVERY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4608" y="5394960"/>
            <a:ext cx="1965960" cy="73152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1768" y="5532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65B8FF"/>
                </a:solidFill>
                <a:latin typeface="Aptos Display"/>
              </a:defRPr>
            </a:pPr>
            <a: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5870448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AGENT SCALE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31736" y="5394960"/>
            <a:ext cx="1965960" cy="73152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8896" y="5532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5C4D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5870448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CENTRAL HUBS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The problem: one failure becomes a fleet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C4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2F3F5"/>
                </a:solidFill>
                <a:latin typeface="Aptos"/>
              </a:defRPr>
            </a:pPr>
            <a:r>
              <a:t>Central dispatch creates a single point of mission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C4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2F3F5"/>
                </a:solidFill>
                <a:latin typeface="Aptos"/>
              </a:defRPr>
            </a:pPr>
            <a:r>
              <a:t>Communication loss turns valid agents into invisible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C4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78892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2F3F5"/>
                </a:solidFill>
                <a:latin typeface="Aptos"/>
              </a:defRPr>
            </a:pPr>
            <a:r>
              <a:t>Static task allocation cannot react to battery, obstacles, or collisions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C4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42900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2F3F5"/>
                </a:solidFill>
                <a:latin typeface="Aptos"/>
              </a:defRPr>
            </a:pPr>
            <a:r>
              <a:t>Autonomous logistics needs resilience at the edge — not only at the 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371600"/>
            <a:ext cx="3383280" cy="2834640"/>
          </a:xfrm>
          <a:prstGeom prst="rect">
            <a:avLst/>
          </a:prstGeom>
          <a:solidFill>
            <a:srgbClr val="301816"/>
          </a:solidFill>
          <a:ln>
            <a:solidFill>
              <a:srgbClr val="6F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6916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5C4D"/>
                </a:solidFill>
                <a:latin typeface="Consolas"/>
              </a:defRPr>
            </a:pPr>
            <a:r>
              <a:t>CENTRAL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267712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5C4D"/>
                </a:solidFill>
                <a:latin typeface="Aptos Display"/>
              </a:defRPr>
            </a:pPr>
            <a: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54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2F3F5"/>
                </a:solidFill>
                <a:latin typeface="Aptos Display"/>
              </a:defRPr>
            </a:pPr>
            <a:r>
              <a:t>fleet halted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40480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9199A2"/>
                </a:solidFill>
                <a:latin typeface="Consolas"/>
              </a:defRPr>
            </a:pPr>
            <a:r>
              <a:t>The failure mode we remove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The solution: local intelligence, shared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310896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5D483"/>
                </a:solidFill>
                <a:latin typeface="Consolas"/>
              </a:defRPr>
            </a:pPr>
            <a:r>
              <a:t>AGENT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2F3F5"/>
                </a:solidFill>
                <a:latin typeface="Aptos"/>
              </a:defRPr>
            </a:pPr>
            <a:r>
              <a:t>position • battery</a:t>
            </a:r>
            <a:br/>
            <a:r>
              <a:t>heartbeat •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48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9199A2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7451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5B8FF"/>
                </a:solidFill>
                <a:latin typeface="Consolas"/>
              </a:defRPr>
            </a:pPr>
            <a:r>
              <a:t>NEIGHBOR 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146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2F3F5"/>
                </a:solidFill>
                <a:latin typeface="Aptos"/>
              </a:defRPr>
            </a:pPr>
            <a:r>
              <a:t>discover • broadcast</a:t>
            </a:r>
            <a:br/>
            <a:r>
              <a:t>link health • peers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148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9199A2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7451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C145"/>
                </a:solidFill>
                <a:latin typeface="Consolas"/>
              </a:defRPr>
            </a:pPr>
            <a:r>
              <a:t>LOCAL AUCTION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5146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2F3F5"/>
                </a:solidFill>
                <a:latin typeface="Aptos"/>
              </a:defRPr>
            </a:pPr>
            <a:r>
              <a:t>distance cost</a:t>
            </a:r>
            <a:br/>
            <a:r>
              <a:t>battery •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148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9199A2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5C4D"/>
                </a:solidFill>
                <a:latin typeface="Consolas"/>
              </a:defRPr>
            </a:pPr>
            <a:r>
              <a:t>SELF-HEALING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146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2F3F5"/>
                </a:solidFill>
                <a:latin typeface="Aptos"/>
              </a:defRPr>
            </a:pPr>
            <a:r>
              <a:t>detect • reassign</a:t>
            </a:r>
            <a:br/>
            <a:r>
              <a:t>resume 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F3F5"/>
                </a:solidFill>
                <a:latin typeface="Aptos Display"/>
              </a:defRPr>
            </a:pPr>
            <a:r>
              <a:t>No central command hub is required for the recovery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234440"/>
            <a:ext cx="10424160" cy="640080"/>
          </a:xfrm>
          <a:prstGeom prst="rect">
            <a:avLst/>
          </a:prstGeom>
          <a:solidFill>
            <a:srgbClr val="121518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5331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5B8FF"/>
                </a:solidFill>
                <a:latin typeface="Consolas"/>
              </a:defRPr>
            </a:pPr>
            <a:r>
              <a:t>BROWSER CONTROL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53312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2F3F5"/>
                </a:solidFill>
                <a:latin typeface="Aptos"/>
              </a:defRPr>
            </a:pPr>
            <a:r>
              <a:t>live telemetry • scenarios • inspection • task broadcast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48840"/>
            <a:ext cx="10424160" cy="640080"/>
          </a:xfrm>
          <a:prstGeom prst="rect">
            <a:avLst/>
          </a:prstGeom>
          <a:solidFill>
            <a:srgbClr val="121518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2F3F5"/>
                </a:solidFill>
                <a:latin typeface="Consolas"/>
              </a:defRPr>
            </a:pPr>
            <a:r>
              <a:t>FASTAPI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67712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2F3F5"/>
                </a:solidFill>
                <a:latin typeface="Aptos"/>
              </a:defRPr>
            </a:pPr>
            <a:r>
              <a:t>simulation clock • metrics • control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063240"/>
            <a:ext cx="10424160" cy="640080"/>
          </a:xfrm>
          <a:prstGeom prst="rect">
            <a:avLst/>
          </a:prstGeom>
          <a:solidFill>
            <a:srgbClr val="121518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8211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5D483"/>
                </a:solidFill>
                <a:latin typeface="Consolas"/>
              </a:defRPr>
            </a:pPr>
            <a:r>
              <a:t>EDGE SWARM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82112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2F3F5"/>
                </a:solidFill>
                <a:latin typeface="Aptos"/>
              </a:defRPr>
            </a:pPr>
            <a:r>
              <a:t>agent registry • utility auction • A* adapter • recovery lease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977639"/>
            <a:ext cx="10424160" cy="640080"/>
          </a:xfrm>
          <a:prstGeom prst="rect">
            <a:avLst/>
          </a:prstGeom>
          <a:solidFill>
            <a:srgbClr val="121518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96511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145"/>
                </a:solidFill>
                <a:latin typeface="Consolas"/>
              </a:defRPr>
            </a:pPr>
            <a:r>
              <a:t>TRANSPORT 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96511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2F3F5"/>
                </a:solidFill>
                <a:latin typeface="Aptos"/>
              </a:defRPr>
            </a:pPr>
            <a:r>
              <a:t>MQTT broker in production  /  in-process fallback in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892040"/>
            <a:ext cx="10424160" cy="640080"/>
          </a:xfrm>
          <a:prstGeom prst="rect">
            <a:avLst/>
          </a:prstGeom>
          <a:solidFill>
            <a:srgbClr val="121518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1091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C4D"/>
                </a:solidFill>
                <a:latin typeface="Consolas"/>
              </a:defRPr>
            </a:pPr>
            <a:r>
              <a:t>PERSISTENCE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10912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2F3F5"/>
                </a:solidFill>
                <a:latin typeface="Aptos"/>
              </a:defRPr>
            </a:pPr>
            <a:r>
              <a:t>PostgreSQL: missions • agents • tasks • recovery • benchmarks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How self-healing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2240280" cy="201168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5C4D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F3F5"/>
                </a:solidFill>
                <a:latin typeface="Consolas"/>
              </a:defRPr>
            </a:pPr>
            <a:r>
              <a:t>HEARTBEAT TIMEOUT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9A2"/>
                </a:solidFill>
                <a:latin typeface="Aptos"/>
              </a:defRPr>
            </a:pPr>
            <a:r>
              <a:t>neighbor detects missing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5786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145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2240280" cy="201168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01168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5C4D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F3F5"/>
                </a:solidFill>
                <a:latin typeface="Consolas"/>
              </a:defRPr>
            </a:pPr>
            <a:r>
              <a:t>TASK ORPHANED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1089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9A2"/>
                </a:solidFill>
                <a:latin typeface="Aptos"/>
              </a:defRPr>
            </a:pPr>
            <a:r>
              <a:t>lease returns task to local mesh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5786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145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828800"/>
            <a:ext cx="2240280" cy="201168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01168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5C4D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F3F5"/>
                </a:solidFill>
                <a:latin typeface="Consolas"/>
              </a:defRPr>
            </a:pPr>
            <a:r>
              <a:t>PEERS BID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1089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9A2"/>
                </a:solidFill>
                <a:latin typeface="Aptos"/>
              </a:defRPr>
            </a:pPr>
            <a:r>
              <a:t>utility weighs distance, battery, priority,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25786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145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828800"/>
            <a:ext cx="2240280" cy="201168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01168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5C4D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F3F5"/>
                </a:solidFill>
                <a:latin typeface="Consolas"/>
              </a:defRPr>
            </a:pPr>
            <a:r>
              <a:t>MISSION RESUMES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1089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9A2"/>
                </a:solidFill>
                <a:latin typeface="Aptos"/>
              </a:defRPr>
            </a:pPr>
            <a:r>
              <a:t>winning agent takes a recovery 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5D483"/>
                </a:solidFill>
                <a:latin typeface="Aptos Display"/>
              </a:defRPr>
            </a:pPr>
            <a:r>
              <a:t>The system does not prevent every failure. It prevents one failure from becoming a fleet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Judge-ready live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C4D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258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3F5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258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199A2"/>
                </a:solidFill>
                <a:latin typeface="Aptos"/>
              </a:defRPr>
            </a:pPr>
            <a:r>
              <a:t>topology, active fleet, comms health, recovery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C4D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3F5"/>
                </a:solidFill>
                <a:latin typeface="Aptos"/>
              </a:defRPr>
            </a:pPr>
            <a:r>
              <a:t>Scenario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199A2"/>
                </a:solidFill>
                <a:latin typeface="Aptos"/>
              </a:defRPr>
            </a:pPr>
            <a:r>
              <a:t>normal • failure • comms • obstacle • battery • 50/100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C4D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71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3F5"/>
                </a:solidFill>
                <a:latin typeface="Aptos"/>
              </a:defRPr>
            </a:pPr>
            <a:r>
              <a:t>Operator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71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199A2"/>
                </a:solidFill>
                <a:latin typeface="Aptos"/>
              </a:defRPr>
            </a:pPr>
            <a:r>
              <a:t>inspect agent → inject failure → watch recovery → broadcast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C4D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947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3F5"/>
                </a:solidFill>
                <a:latin typeface="Aptos"/>
              </a:defRPr>
            </a:pPr>
            <a:r>
              <a:t>Pygame 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947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199A2"/>
                </a:solidFill>
                <a:latin typeface="Aptos"/>
              </a:defRPr>
            </a:pPr>
            <a:r>
              <a:t>offline visual simulator for fast demonstrations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4709160"/>
            <a:ext cx="2286000" cy="566928"/>
          </a:xfrm>
          <a:prstGeom prst="rect">
            <a:avLst/>
          </a:prstGeom>
          <a:solidFill>
            <a:srgbClr val="23372C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4882896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5D483"/>
                </a:solidFill>
                <a:latin typeface="Consolas"/>
              </a:defRPr>
            </a:pPr>
            <a:r>
              <a:t>DEMO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Measurable benchmark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199A2"/>
                </a:solidFill>
                <a:latin typeface="Consolas"/>
              </a:defRPr>
            </a:pPr>
            <a:r>
              <a:t>Mission success rate 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2F3F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800600"/>
            <a:ext cx="685800" cy="9144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64360"/>
            <a:ext cx="566928" cy="2844800"/>
          </a:xfrm>
          <a:prstGeom prst="rect">
            <a:avLst/>
          </a:prstGeom>
          <a:solidFill>
            <a:srgbClr val="50575E"/>
          </a:solidFill>
          <a:ln>
            <a:solidFill>
              <a:srgbClr val="505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55648" y="1813560"/>
            <a:ext cx="566928" cy="2895600"/>
          </a:xfrm>
          <a:prstGeom prst="rect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199A2"/>
                </a:solidFill>
                <a:latin typeface="Consolas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483"/>
                </a:solidFill>
                <a:latin typeface="Consolas"/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8686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2F3F5"/>
                </a:solidFill>
                <a:latin typeface="Consolas"/>
              </a:defRPr>
            </a:pPr>
            <a:r>
              <a:t>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4800600"/>
            <a:ext cx="685800" cy="9144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2270760"/>
            <a:ext cx="566928" cy="2438400"/>
          </a:xfrm>
          <a:prstGeom prst="rect">
            <a:avLst/>
          </a:prstGeom>
          <a:solidFill>
            <a:srgbClr val="50575E"/>
          </a:solidFill>
          <a:ln>
            <a:solidFill>
              <a:srgbClr val="505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915160"/>
            <a:ext cx="566928" cy="2794000"/>
          </a:xfrm>
          <a:prstGeom prst="rect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199A2"/>
                </a:solidFill>
                <a:latin typeface="Consolas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483"/>
                </a:solidFill>
                <a:latin typeface="Consolas"/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8686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2F3F5"/>
                </a:solidFill>
                <a:latin typeface="Consolas"/>
              </a:defRPr>
            </a:pPr>
            <a:r>
              <a:t>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800600"/>
            <a:ext cx="685800" cy="9144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32760"/>
            <a:ext cx="566928" cy="1676400"/>
          </a:xfrm>
          <a:prstGeom prst="rect">
            <a:avLst/>
          </a:prstGeom>
          <a:solidFill>
            <a:srgbClr val="50575E"/>
          </a:solidFill>
          <a:ln>
            <a:solidFill>
              <a:srgbClr val="505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67728" y="2016760"/>
            <a:ext cx="566928" cy="2692400"/>
          </a:xfrm>
          <a:prstGeom prst="rect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199A2"/>
                </a:solidFill>
                <a:latin typeface="Consolas"/>
              </a:defRPr>
            </a:pPr>
            <a: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483"/>
                </a:solidFill>
                <a:latin typeface="Consolas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8686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2F3F5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4800600"/>
            <a:ext cx="685800" cy="9144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60" y="4150360"/>
            <a:ext cx="566928" cy="558800"/>
          </a:xfrm>
          <a:prstGeom prst="rect">
            <a:avLst/>
          </a:prstGeom>
          <a:solidFill>
            <a:srgbClr val="50575E"/>
          </a:solidFill>
          <a:ln>
            <a:solidFill>
              <a:srgbClr val="505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73768" y="2219960"/>
            <a:ext cx="566928" cy="2489200"/>
          </a:xfrm>
          <a:prstGeom prst="rect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199A2"/>
                </a:solidFill>
                <a:latin typeface="Consolas"/>
              </a:defRPr>
            </a:pPr>
            <a: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483"/>
                </a:solidFill>
                <a:latin typeface="Consolas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2344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199A2"/>
                </a:solidFill>
                <a:latin typeface="Aptos"/>
              </a:defRPr>
            </a:pPr>
            <a:r>
              <a:t>Centralized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6002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5D483"/>
                </a:solidFill>
                <a:latin typeface="Aptos"/>
              </a:defRPr>
            </a:pPr>
            <a:r>
              <a:t>Decentralized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623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3F5"/>
                </a:solidFill>
                <a:latin typeface="Aptos"/>
              </a:defRPr>
            </a:pPr>
            <a:r>
              <a:t>Prototype benchmark: decentralization retains mission continuity as fleet scale grows.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Innovation, feasibility,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3337560" cy="237744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5C4D"/>
                </a:solidFill>
                <a:latin typeface="Consolas"/>
              </a:defRPr>
            </a:pPr>
            <a:r>
              <a:t>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3F5"/>
                </a:solidFill>
                <a:latin typeface="Aptos Display"/>
              </a:defRPr>
            </a:pPr>
            <a:r>
              <a:t>Communication-aware local auctions</a:t>
            </a:r>
            <a:br/>
            <a:r>
              <a:t>Recovery leases prevent duplicates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79" y="1554480"/>
            <a:ext cx="3337560" cy="237744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874519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5D483"/>
                </a:solidFill>
                <a:latin typeface="Consolas"/>
              </a:defRPr>
            </a:pPr>
            <a:r>
              <a:t>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4688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3F5"/>
                </a:solidFill>
                <a:latin typeface="Aptos Display"/>
              </a:defRPr>
            </a:pPr>
            <a:r>
              <a:t>FastAPI + Python/Pygame</a:t>
            </a:r>
            <a:br/>
            <a:r>
              <a:t>MQTT/PostgreSQL production 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554480"/>
            <a:ext cx="3337560" cy="2377440"/>
          </a:xfrm>
          <a:prstGeom prst="rect">
            <a:avLst/>
          </a:prstGeom>
          <a:solidFill>
            <a:srgbClr val="14171B"/>
          </a:solidFill>
          <a:ln>
            <a:solidFill>
              <a:srgbClr val="2B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874519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5B8FF"/>
                </a:solidFill>
                <a:latin typeface="Consolas"/>
              </a:defRPr>
            </a:pPr>
            <a: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4688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3F5"/>
                </a:solidFill>
                <a:latin typeface="Aptos Display"/>
              </a:defRPr>
            </a:pPr>
            <a:r>
              <a:t>Resilient delivery operations</a:t>
            </a:r>
            <a:br/>
            <a:r>
              <a:t>Lower downtime and recovery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Business and patent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C4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1732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2F3F5"/>
                </a:solidFill>
                <a:latin typeface="Aptos"/>
              </a:defRPr>
            </a:pPr>
            <a:r>
              <a:t>Initial wedge: simulation-backed fleet resilience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C4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5740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2F3F5"/>
                </a:solidFill>
                <a:latin typeface="Aptos"/>
              </a:defRPr>
            </a:pPr>
            <a:r>
              <a:t>Expansion: edge runtime licensing + fleet 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C4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9748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2F3F5"/>
                </a:solidFill>
                <a:latin typeface="Aptos"/>
              </a:defRPr>
            </a:pPr>
            <a:r>
              <a:t>Target customers: warehouse robotics, drone logistics, industrial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C4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337560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2F3F5"/>
                </a:solidFill>
                <a:latin typeface="Aptos"/>
              </a:defRPr>
            </a:pPr>
            <a:r>
              <a:t>Patent hypothesis: communication-risk-weighted recovery auction with duplicate-delivery prevention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2834640" cy="2560320"/>
          </a:xfrm>
          <a:prstGeom prst="rect">
            <a:avLst/>
          </a:prstGeom>
          <a:solidFill>
            <a:srgbClr val="131F1C"/>
          </a:solidFill>
          <a:ln>
            <a:solidFill>
              <a:srgbClr val="286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0574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5D483"/>
                </a:solidFill>
                <a:latin typeface="Aptos Display"/>
              </a:defRPr>
            </a:pPr>
            <a:r>
              <a:t>RESILIENCE</a:t>
            </a:r>
            <a:br/>
            <a:r>
              <a:t>AS A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004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2F3F5"/>
                </a:solidFill>
                <a:latin typeface="Aptos"/>
              </a:defRPr>
            </a:pPr>
            <a:r>
              <a:t>prove it in simulation</a:t>
            </a:r>
            <a:br/>
            <a:r>
              <a:t>then run it at the 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Demo script: four minutes to prove the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C4D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3F5"/>
                </a:solidFill>
                <a:latin typeface="Aptos"/>
              </a:defRPr>
            </a:pPr>
            <a:r>
              <a:t>Open command center — show live topology and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C4D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4884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3F5"/>
                </a:solidFill>
                <a:latin typeface="Aptos"/>
              </a:defRPr>
            </a:pPr>
            <a:r>
              <a:t>Run Agent failure — heartbeat timeout triggers local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C4D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3F5"/>
                </a:solidFill>
                <a:latin typeface="Aptos"/>
              </a:defRPr>
            </a:pPr>
            <a:r>
              <a:t>Broadcast a high-priority task — peers bid on utility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C4D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03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3F5"/>
                </a:solidFill>
                <a:latin typeface="Aptos"/>
              </a:defRPr>
            </a:pPr>
            <a:r>
              <a:t>Run Communication loss and 100-agent stress — mission keeps moving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9A2"/>
                </a:solidFill>
                <a:latin typeface="Consolas"/>
              </a:defRPr>
            </a:pPr>
            <a:r>
              <a:t>Closing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218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45D483"/>
                </a:solidFill>
                <a:latin typeface="Aptos Display"/>
              </a:defRPr>
            </a:pPr>
            <a:r>
              <a:t>“One failure should never become a fleet failure.”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199A2"/>
                </a:solidFill>
                <a:latin typeface="Consolas"/>
              </a:defRPr>
            </a:pPr>
            <a:r>
              <a:t>SWARM-X GUARDIAN  /  KPIT SPARKLE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3F5"/>
                </a:solidFill>
                <a:latin typeface="Aptos Display"/>
              </a:defRPr>
            </a:pPr>
            <a:r>
              <a:t>Build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5C4D"/>
                </a:solidFill>
                <a:latin typeface="Aptos Display"/>
              </a:defRPr>
            </a:pPr>
            <a:r>
              <a:t>SWARM-X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868680" cy="384048"/>
          </a:xfrm>
          <a:prstGeom prst="rect">
            <a:avLst/>
          </a:prstGeom>
          <a:solidFill>
            <a:srgbClr val="45D483"/>
          </a:solidFill>
          <a:ln>
            <a:solidFill>
              <a:srgbClr val="45D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1732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B0D"/>
                </a:solidFill>
                <a:latin typeface="Consolas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38988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3F5"/>
                </a:solidFill>
                <a:latin typeface="Aptos"/>
              </a:defRPr>
            </a:pPr>
            <a:r>
              <a:t>Working dashboard + Pygame simulator + deterministic scenarios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30552"/>
            <a:ext cx="868680" cy="384048"/>
          </a:xfrm>
          <a:prstGeom prst="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2199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B0D"/>
                </a:solidFill>
                <a:latin typeface="Consolas"/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945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3F5"/>
                </a:solidFill>
                <a:latin typeface="Aptos"/>
              </a:defRPr>
            </a:pPr>
            <a:r>
              <a:t>PostgreSQL persistence, Alembic migrations, local MQTT broker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35224"/>
            <a:ext cx="868680" cy="384048"/>
          </a:xfrm>
          <a:prstGeom prst="rect">
            <a:avLst/>
          </a:prstGeom>
          <a:solidFill>
            <a:srgbClr val="65B8FF"/>
          </a:solidFill>
          <a:ln>
            <a:solidFill>
              <a:srgbClr val="65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02666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B0D"/>
                </a:solidFill>
                <a:latin typeface="Consolas"/>
              </a:defRPr>
            </a:pPr>
            <a: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99232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3F5"/>
                </a:solidFill>
                <a:latin typeface="Aptos"/>
              </a:defRPr>
            </a:pPr>
            <a:r>
              <a:t>A* path playback, collision metrics, benchmark export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39896"/>
            <a:ext cx="868680" cy="384048"/>
          </a:xfrm>
          <a:prstGeom prst="rect">
            <a:avLst/>
          </a:prstGeom>
          <a:solidFill>
            <a:srgbClr val="FF5C4D"/>
          </a:solidFill>
          <a:ln>
            <a:solidFill>
              <a:srgbClr val="FF5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831335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A0B0D"/>
                </a:solidFill>
                <a:latin typeface="Consolas"/>
              </a:defRPr>
            </a:pPr>
            <a: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803904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3F5"/>
                </a:solidFill>
                <a:latin typeface="Aptos"/>
              </a:defRPr>
            </a:pPr>
            <a:r>
              <a:t>Hardware-in-the-loop adapters for drones and AGVs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5C4D"/>
                </a:solidFill>
                <a:latin typeface="Aptos Display"/>
              </a:defRPr>
            </a:pPr>
            <a:r>
              <a:t>SWARM-X Guardian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9A2"/>
                </a:solidFill>
                <a:latin typeface="Aptos"/>
              </a:defRPr>
            </a:pPr>
            <a:r>
              <a:t>Self-healing decentralized coordination for autonomous logistics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